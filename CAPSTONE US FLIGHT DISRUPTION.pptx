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70" r:id="rId3"/>
    <p:sldId id="273" r:id="rId4"/>
    <p:sldId id="261" r:id="rId5"/>
    <p:sldId id="262" r:id="rId6"/>
    <p:sldId id="259" r:id="rId7"/>
    <p:sldId id="260" r:id="rId8"/>
    <p:sldId id="257" r:id="rId9"/>
    <p:sldId id="267" r:id="rId10"/>
    <p:sldId id="256" r:id="rId11"/>
    <p:sldId id="269" r:id="rId12"/>
    <p:sldId id="264" r:id="rId13"/>
    <p:sldId id="258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625"/>
    <a:srgbClr val="C85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6723" autoAdjust="0"/>
  </p:normalViewPr>
  <p:slideViewPr>
    <p:cSldViewPr snapToGrid="0">
      <p:cViewPr>
        <p:scale>
          <a:sx n="83" d="100"/>
          <a:sy n="83" d="100"/>
        </p:scale>
        <p:origin x="702" y="9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B9CB0-78E3-49B5-B93F-033A59F1761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1C299-42D4-47D3-B35A-F728DBE4B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1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0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59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38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4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95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78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66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48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CA03-65C2-76A6-BEB8-B6F05C4B1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3503D-12E7-0A30-DADA-2822151AE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E796-113E-A663-65C0-9020FE8D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E94FC-9189-B562-687B-2C080DB5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13D7F-7F0B-0DD3-A956-854F340E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5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CBED-F480-AD76-5BD3-D78ADEF5B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BAB59-6995-2D1B-73FB-C6B50477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ADA0-B6A0-A909-5AEF-6EEC576F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F9D7-BA27-529E-AA9D-7DB33061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EA0BB-F7A2-A9E2-69BA-986D158B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3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4478-C83C-48A8-A40F-A8E7259E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BD620-DF3D-E4F0-65D1-74A40B1A7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1EC5B-D515-DEBC-47D0-98004A96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8FC71-BA57-CD6E-459B-339479D6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ADEC-BB55-3654-32CF-F0CC4BF9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4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B6F8-5156-AB45-A1DE-61137F81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F126-23FE-204F-3EB7-4A4111108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C51C4-7198-58BA-92BE-17AEF0F6F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9CEF4-0DA9-E582-8481-E6DFC458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F5D52-E093-CAB4-DD6D-0D410E08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8C865-2CF7-95E7-ED8B-B1FBF3EA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14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FDF2-1ADD-F1BB-955A-5355A45B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6C34-93B7-A3D5-E52D-081F77449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710F4-D8D6-7D1D-7117-427EF9374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CB1B0-0960-D988-7306-0FBBED9C5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AA150-38A7-6966-6261-F7B2DAB8A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5103F-2426-BFEF-ABB9-91B74CD6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8839E-9F3D-97B5-2428-75391132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DE2A8-5489-E45B-D411-64896A01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9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7AF6-6812-F46E-0ABC-4E9D72F2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0B443-BE2F-541C-4926-D2BD9C7E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0689F-196C-E5A0-633E-4569D351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B0E21-D955-FBB2-F89A-E6316A21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0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621A7-DF4F-133C-48A2-4E1095B3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60980-2B9B-3AF8-81D9-84591A5F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6042-93F7-212A-E3E9-B09DA56C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1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B1E5-4724-D343-96C0-87274C00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5CCE-9445-E98B-C90F-EE0132A0F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47FC-78F0-57CA-0BFF-F69029FE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A4B2D-2C2F-590C-2960-7B4AE991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5D03B-EC99-E4FD-E1C2-7CD97A47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69AC9-7177-8876-1E51-C3133BA5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E988D-E126-A782-60C0-DB17E158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9B849-1224-9103-45D6-EB06D53E9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DF80A-3480-D27D-13A2-A610B446F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80551-0B6E-B9E5-3D9D-71A91120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F7361-19A2-CC15-52C1-C4F74A11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1496B-EC13-C0F8-A065-F292C733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3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32FC-0AD2-7D46-6C5C-5771F534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D5D13-BE02-D1A7-E080-E6E02E760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F72A-FEDB-5A6D-81C4-1568C702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48119-A852-DC54-5BEF-CBC94D6B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88E93-7B0E-45C6-361F-409C35EF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6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02A29-D8E7-E9F5-9745-8EDB7E11D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5741C-4FD1-9C08-0C0A-29696E69B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EACAD-99D7-594C-1D3D-DDE075D8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343A7-C140-7CA1-B2A3-31C8EE9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18C20-6BBE-25E6-D370-B6003FD9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75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18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93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3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07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44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49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13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0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20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51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4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C8537-A01B-ED88-D239-8B2A7A35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5DD9D-49EB-76EB-1E92-3580BB0C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EEAE-54A5-4E31-52CA-B7C58A195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DBFCA-457A-4BDE-B9DA-D510D527FA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51733-F9C4-ED8E-F232-EB594B3AB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5871-326B-169B-25DB-32A8176A0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7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6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765" y="643468"/>
            <a:ext cx="5231731" cy="23557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b="1" dirty="0">
                <a:solidFill>
                  <a:srgbClr val="C85116"/>
                </a:solidFill>
                <a:latin typeface="Abadi ExtraLight" panose="020F0502020204030204" pitchFamily="34" charset="0"/>
              </a:rPr>
              <a:t>U.S. Flight Delay &amp; Cancellation Analysis </a:t>
            </a:r>
          </a:p>
        </p:txBody>
      </p:sp>
      <p:pic>
        <p:nvPicPr>
          <p:cNvPr id="12" name="Picture 11" descr="Airplane taking off against dramatic sky">
            <a:extLst>
              <a:ext uri="{FF2B5EF4-FFF2-40B4-BE49-F238E27FC236}">
                <a16:creationId xmlns:a16="http://schemas.microsoft.com/office/drawing/2014/main" id="{03A3400D-B164-84E9-C549-9D9D96EF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07" r="31974"/>
          <a:stretch>
            <a:fillRect/>
          </a:stretch>
        </p:blipFill>
        <p:spPr>
          <a:xfrm>
            <a:off x="5859261" y="10"/>
            <a:ext cx="633273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14E560-80E2-2139-5237-C8BE5245F78B}"/>
              </a:ext>
            </a:extLst>
          </p:cNvPr>
          <p:cNvSpPr txBox="1"/>
          <p:nvPr/>
        </p:nvSpPr>
        <p:spPr>
          <a:xfrm>
            <a:off x="753035" y="4616824"/>
            <a:ext cx="479246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Divya Vegi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Capstone Presentation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Nashville Software School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Aft>
                <a:spcPts val="600"/>
              </a:spcAft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 defTabSz="914400">
              <a:lnSpc>
                <a:spcPct val="90000"/>
              </a:lnSpc>
            </a:pPr>
            <a: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Overview &amp; Business Questions</a:t>
            </a: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495A5DF-7818-837D-C21C-755493962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814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Dataset:</a:t>
            </a:r>
            <a:r>
              <a:rPr lang="en-US" sz="2400" dirty="0"/>
              <a:t> U.S. domestic flight data from the Bureau of Transportation Statistics (DOT), Hourly Weather Data 2024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Preparation &amp; Cleaning:</a:t>
            </a:r>
            <a:endParaRPr lang="en-US" sz="24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Combined monthly files into a single year dataset for year-level analysis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Processed millions of flight records across airlines and airports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Standardized time fields and aligned delay measurements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Optimized the dataset for large-scale analysis and visualization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Flight is considered delayed if delay is &gt;15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Business Questions:</a:t>
            </a:r>
            <a:endParaRPr lang="en-US" sz="24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When are flights most likely to be delayed or cancelled?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do delays vary across airlines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Are delays driven more by airline operations or external factors?</a:t>
            </a: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D2B62E0-F8BD-5BD3-C942-A3311540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418" y="552091"/>
            <a:ext cx="6224335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CA607-7201-3025-642E-28987A0507E4}"/>
              </a:ext>
            </a:extLst>
          </p:cNvPr>
          <p:cNvSpPr txBox="1"/>
          <p:nvPr/>
        </p:nvSpPr>
        <p:spPr>
          <a:xfrm>
            <a:off x="5640705" y="26289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A8AFF-BFE8-7D35-EBCB-EA00109FEC09}"/>
              </a:ext>
            </a:extLst>
          </p:cNvPr>
          <p:cNvSpPr txBox="1"/>
          <p:nvPr/>
        </p:nvSpPr>
        <p:spPr>
          <a:xfrm>
            <a:off x="1805940" y="-1943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55066-B881-E098-C711-70907186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35A8F-7550-1971-9823-4D464833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5615752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 Flights by Airline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5484A5-072C-39F3-F0D0-236459A1C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5" y="2660904"/>
            <a:ext cx="4486497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</a:rPr>
              <a:t>A small number of major carriers operate the majority of flights</a:t>
            </a:r>
          </a:p>
          <a:p>
            <a:pPr marL="28575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Southwest, delta, American and united operate majority of the flights.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Regional carriers (Republic, Envoy, PSA, Endeavor) operate fewer flights but are more sensitive to disruptions from partner airlines.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High flight volume does not automatically mean poor performance, but it amplifies the operational impact of delays and cancellations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4A318A8-2665-3FE0-80A9-92070E72B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3"/>
          <a:stretch>
            <a:fillRect/>
          </a:stretch>
        </p:blipFill>
        <p:spPr>
          <a:xfrm>
            <a:off x="4973053" y="1303602"/>
            <a:ext cx="6790729" cy="37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3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90669-8DB1-A5E7-231D-C8FCAB74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B47B96-10B6-5959-3654-A88BF11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" y="366602"/>
            <a:ext cx="4551630" cy="103141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800" dirty="0"/>
              <a:t>Airports – Flight Volume  &amp; Disruptions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0BF490-F133-5AB9-28D4-C67191BF0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3" y="2079057"/>
            <a:ext cx="4259179" cy="40979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6DCC5-2443-BDEE-358A-D22509E85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374" y="132348"/>
            <a:ext cx="7487142" cy="3090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C941A0-C6AB-9CE3-60A7-998A56435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374" y="3429001"/>
            <a:ext cx="7487142" cy="329665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DC02124-5591-667A-A725-13CBE54B4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8DE7EC-7E39-7A4B-F978-925A87EB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3" y="1865081"/>
            <a:ext cx="448635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ATL is the busiest airport by flight volume.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DFW, DEN, and ORD also handle very high traffic, reinforcing their role as major connection airports.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High-volume hubs act as network bottleneck</a:t>
            </a:r>
            <a:r>
              <a:rPr lang="en-US" altLang="en-US" sz="1600" dirty="0">
                <a:latin typeface="Arial" panose="020B0604020202020204" pitchFamily="34" charset="0"/>
              </a:rPr>
              <a:t>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Disruption rates vary significantly among busy airports, showing that volume alone does not drive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DFW and CLT  has the highest disruption indicating operational strain.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ATL maintains comparatively lower disruption rates, suggesting stronger infrastructure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57139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A1E68-D1A9-2AA3-EA12-CC7A0739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3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284E44-C604-15F4-74FC-C0840060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Flight Status &amp; Monthly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D1BCA-3E7F-49C3-E209-C1A1459B2058}"/>
              </a:ext>
            </a:extLst>
          </p:cNvPr>
          <p:cNvSpPr txBox="1"/>
          <p:nvPr/>
        </p:nvSpPr>
        <p:spPr>
          <a:xfrm>
            <a:off x="838201" y="2623381"/>
            <a:ext cx="3888528" cy="3553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78.6% flights operate successfully; delays are a consistent disruption throughout the year.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Cancellations &amp; diversions are rare, but spike during severe disruption periods.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8F65C3-8C3A-AB43-C6D8-A22E52E09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" b="717"/>
          <a:stretch>
            <a:fillRect/>
          </a:stretch>
        </p:blipFill>
        <p:spPr>
          <a:xfrm>
            <a:off x="6324736" y="1162295"/>
            <a:ext cx="4747547" cy="473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1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88657-7CD5-118D-FB13-1B4AB759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318862-ADD8-BF3C-13B4-057355EE1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68" y="64008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Delays across  months</a:t>
            </a:r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0BA911-B29C-8546-D340-90685FDC4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373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dirty="0"/>
              <a:t>Delay rates fluctuate throughout the year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Delay Peaks align with busy travel and weather periods</a:t>
            </a: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Lower rates seen in off seasons</a:t>
            </a: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Highlights seasonal operational stress.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1CE230-1068-C5D3-8658-1FADD50C0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941" y="955837"/>
            <a:ext cx="7610491" cy="471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2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0ECC9E-CEFB-F007-2002-EADB4929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13" y="6188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 Rate By Time Of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69709-A875-0210-67C8-245B31AD2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2198362"/>
            <a:ext cx="4527329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Delay rates increase steadily from morning to evening</a:t>
            </a:r>
          </a:p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Early flights experience fewer disruptions</a:t>
            </a:r>
          </a:p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Evening delays reflect accumulated network congestion.</a:t>
            </a:r>
          </a:p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2430D-B903-1A05-04A8-458555DF3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694" y="2026183"/>
            <a:ext cx="6755911" cy="376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01C5E2-7143-DADE-DF7A-6374A6AE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85038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 Cause Ranking</a:t>
            </a:r>
          </a:p>
        </p:txBody>
      </p:sp>
      <p:sp>
        <p:nvSpPr>
          <p:cNvPr id="6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AA806-E988-4939-77F5-934350157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203"/>
          <a:stretch>
            <a:fillRect/>
          </a:stretch>
        </p:blipFill>
        <p:spPr>
          <a:xfrm>
            <a:off x="4654296" y="486562"/>
            <a:ext cx="6894576" cy="31463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A68DDE-9CE0-EA6C-6F5A-34075FCFA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6" y="4011298"/>
            <a:ext cx="6894576" cy="23601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100" dirty="0"/>
              <a:t>Top 2 : </a:t>
            </a:r>
            <a:r>
              <a:rPr lang="en-US" sz="2100" dirty="0"/>
              <a:t>Carrier &amp; Late aircraft delays are </a:t>
            </a:r>
            <a:r>
              <a:rPr lang="en-US" altLang="en-US" sz="2100" dirty="0"/>
              <a:t>under airline control</a:t>
            </a:r>
            <a:r>
              <a:rPr lang="en-US" sz="2100" dirty="0"/>
              <a:t> the leading causes of flight disruptions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NAS delays reflect congestion at busy airports.</a:t>
            </a: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dirty="0"/>
              <a:t>External factors like weather and Security delays are minimal compared to other causes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100" dirty="0"/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57DA5-FBC7-1616-BA56-92C3382C8D7B}"/>
              </a:ext>
            </a:extLst>
          </p:cNvPr>
          <p:cNvSpPr txBox="1"/>
          <p:nvPr/>
        </p:nvSpPr>
        <p:spPr>
          <a:xfrm>
            <a:off x="4930346" y="8649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F0F4C2-D2A5-904D-8608-1ABA0348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 Types across airlines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3707E5-E48C-D0E0-1F06-5CDE5E699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660904"/>
            <a:ext cx="4818888" cy="40557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Carrier-related delays are consistently significant, especially for larger network airlines.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JetBlue  and American show higher carrier delay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Frontier is driven mainly by late-aircraft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Delta and Alaska show lower delay rates, indicating strong reliability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01716-56DE-FBCA-752F-A0FD4607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520" y="4315522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C4F95-4BAA-72F7-A0FC-27BA6968D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3" y="403882"/>
            <a:ext cx="6362701" cy="630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8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3A862-9E3A-4ABA-4059-D8FBBF43F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16" y="457200"/>
            <a:ext cx="451377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Cancellation &amp; Delay Relationship</a:t>
            </a:r>
          </a:p>
        </p:txBody>
      </p:sp>
      <p:sp>
        <p:nvSpPr>
          <p:cNvPr id="4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695969-D071-5ACB-683A-CB8188BAF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263" y="457200"/>
            <a:ext cx="6007608" cy="25544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Airlines use different disruption strategies: delaying flights or canceling them.</a:t>
            </a:r>
          </a:p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Some airlines manage delays operationally; </a:t>
            </a:r>
            <a:r>
              <a:rPr lang="en-US" sz="1200" dirty="0"/>
              <a:t>Others cancel more aggressively to reset schedules.</a:t>
            </a:r>
          </a:p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Frontier shows both high delays and high cancellations, indicating reliability challenges.</a:t>
            </a:r>
          </a:p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American and JetBlue favor delays over cancellations to keep flights operating.</a:t>
            </a:r>
          </a:p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S</a:t>
            </a:r>
            <a:r>
              <a:rPr lang="en-US" sz="1200" dirty="0"/>
              <a:t>pirit and Allegiant experience high delays with higher cancellations, reflecting tight schedules.</a:t>
            </a:r>
          </a:p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Delta and Southwest maintain lower delays and cancellations, showing stronger operational resilience.</a:t>
            </a:r>
          </a:p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18904-0141-7A9F-FF03-8D154B597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21" y="2721866"/>
            <a:ext cx="5385342" cy="37688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754111-4EFA-1702-0454-658A123D4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184" y="2721866"/>
            <a:ext cx="6007608" cy="36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1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36494-8662-BDF2-9705-A9315CCC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626D50-0F36-E2E4-E902-5BB66ECE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Airport Level Delays</a:t>
            </a:r>
          </a:p>
        </p:txBody>
      </p:sp>
      <p:sp>
        <p:nvSpPr>
          <p:cNvPr id="7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D72EB-5452-2084-8CB4-C2185B7B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Longer taxi-out times </a:t>
            </a:r>
            <a:r>
              <a:rPr lang="en-US" altLang="en-US" sz="2200" dirty="0"/>
              <a:t>are linked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with higher delay rates.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Ground congestion </a:t>
            </a:r>
            <a:r>
              <a:rPr lang="en-US" altLang="en-US" sz="2200" dirty="0"/>
              <a:t>drives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departure delays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Indicates airport-level operational bottlenecks.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10EDF7-4C66-FAED-86E3-661DB357A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t="-3" r="-194" b="4"/>
          <a:stretch>
            <a:fillRect/>
          </a:stretch>
        </p:blipFill>
        <p:spPr>
          <a:xfrm>
            <a:off x="4850332" y="640080"/>
            <a:ext cx="651164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36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DF703-BA4A-7B92-7F43-74D2CFB0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6E7C78-C9FA-14FD-3E3A-4109A003C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2593"/>
            <a:ext cx="4475746" cy="1800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Delays Propagation &amp; Severity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ABAA45-515E-1B30-ED7E-C6EDE849D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93119"/>
            <a:ext cx="4292867" cy="42884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Strong correlation between departure and arrival delays-</a:t>
            </a:r>
            <a:r>
              <a:rPr lang="en-US" sz="1600" dirty="0"/>
              <a:t> delays rarely recover once a flight departs late.</a:t>
            </a:r>
            <a:endParaRPr kumimoji="0" lang="en-US" altLang="en-US" sz="16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/>
              <a:t>Most delays are short and manageable, but they occur at very high volume.</a:t>
            </a:r>
            <a:endParaRPr kumimoji="0" lang="en-US" altLang="en-US" sz="16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/>
              <a:t>Delays rarely recover once a flight departs late; most delays are carried through to arrival.</a:t>
            </a: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/>
              <a:t>A small subset of flights experience extreme delays(more than 200 mins), creating outsized disruption.</a:t>
            </a:r>
          </a:p>
          <a:p>
            <a:pPr marL="34290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Average delay rates hide these extreme events, making distribution critical for understanding impact.</a:t>
            </a: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600" dirty="0"/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83356-9DAB-29DC-25EF-4293AC382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47" y="3379332"/>
            <a:ext cx="7472381" cy="31860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4C0CCC-63F0-F7E5-38CE-3544648D4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47" y="208343"/>
            <a:ext cx="7307281" cy="30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0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99071-25E4-E8D3-8AA0-FE3C1FCD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337109"/>
            <a:ext cx="4245864" cy="18259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00" dirty="0"/>
              <a:t>Flights – weather impact</a:t>
            </a:r>
            <a:br>
              <a:rPr lang="en-US" sz="3800" dirty="0"/>
            </a:br>
            <a:r>
              <a:rPr lang="en-US" sz="3800" dirty="0"/>
              <a:t>at major airports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8231C43-24F3-CD9B-91D5-499C7258B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99" y="4100273"/>
            <a:ext cx="6214871" cy="20627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Compared weather delays across the top high-traffic airports : </a:t>
            </a:r>
            <a:r>
              <a:rPr lang="en-US" altLang="en-US" dirty="0"/>
              <a:t>ATL, DEN, DFW, CLT, JFK,  LAX, ORD, PHX, LAS, SEA, LGA</a:t>
            </a:r>
            <a:r>
              <a:rPr lang="en-US" altLang="en-US" sz="2000" dirty="0"/>
              <a:t>.    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Snow and severe weather have higher delay and cancellation rates.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DE3ABD-4E68-A36B-94D1-3F6B70536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558824"/>
              </p:ext>
            </p:extLst>
          </p:nvPr>
        </p:nvGraphicFramePr>
        <p:xfrm>
          <a:off x="6292904" y="1000973"/>
          <a:ext cx="5471162" cy="1810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476">
                  <a:extLst>
                    <a:ext uri="{9D8B030D-6E8A-4147-A177-3AD203B41FA5}">
                      <a16:colId xmlns:a16="http://schemas.microsoft.com/office/drawing/2014/main" val="167708244"/>
                    </a:ext>
                  </a:extLst>
                </a:gridCol>
                <a:gridCol w="880945">
                  <a:extLst>
                    <a:ext uri="{9D8B030D-6E8A-4147-A177-3AD203B41FA5}">
                      <a16:colId xmlns:a16="http://schemas.microsoft.com/office/drawing/2014/main" val="672478154"/>
                    </a:ext>
                  </a:extLst>
                </a:gridCol>
                <a:gridCol w="986465">
                  <a:extLst>
                    <a:ext uri="{9D8B030D-6E8A-4147-A177-3AD203B41FA5}">
                      <a16:colId xmlns:a16="http://schemas.microsoft.com/office/drawing/2014/main" val="426568965"/>
                    </a:ext>
                  </a:extLst>
                </a:gridCol>
                <a:gridCol w="1313651">
                  <a:extLst>
                    <a:ext uri="{9D8B030D-6E8A-4147-A177-3AD203B41FA5}">
                      <a16:colId xmlns:a16="http://schemas.microsoft.com/office/drawing/2014/main" val="1941335778"/>
                    </a:ext>
                  </a:extLst>
                </a:gridCol>
                <a:gridCol w="1148625">
                  <a:extLst>
                    <a:ext uri="{9D8B030D-6E8A-4147-A177-3AD203B41FA5}">
                      <a16:colId xmlns:a16="http://schemas.microsoft.com/office/drawing/2014/main" val="2709967725"/>
                    </a:ext>
                  </a:extLst>
                </a:gridCol>
              </a:tblGrid>
              <a:tr h="6348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weather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On Time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Delayed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>
                          <a:solidFill>
                            <a:schemeClr val="tx1"/>
                          </a:solidFill>
                          <a:effectLst/>
                        </a:rPr>
                        <a:t>Cancelled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Diverted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58320"/>
                  </a:ext>
                </a:extLst>
              </a:tr>
              <a:tr h="391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Clear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79.61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18.96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1.19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0.24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12778704"/>
                  </a:ext>
                </a:extLst>
              </a:tr>
              <a:tr h="391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Rain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56.99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39.53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3.16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0.32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95469583"/>
                  </a:ext>
                </a:extLst>
              </a:tr>
              <a:tr h="391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Snow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10.77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71.67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17.15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0.41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9743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7D59A23-682C-CEE7-349C-37C6C0196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8"/>
          <a:stretch>
            <a:fillRect/>
          </a:stretch>
        </p:blipFill>
        <p:spPr>
          <a:xfrm>
            <a:off x="228013" y="409575"/>
            <a:ext cx="5640006" cy="349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0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B91A7-6534-2966-99D8-C83E42A6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Flights delays by month – weather impact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605DD4-1372-B9E9-4398-F42C64C76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1" y="2807208"/>
            <a:ext cx="482346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effectLst/>
              </a:rPr>
              <a:t>Weather-related delays vary seasonally.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Snow months show the highest cancellation rates and longest delays.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Rain increases delays, especially during peak travel months.</a:t>
            </a: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effectLst/>
              </a:rPr>
              <a:t>Clear-weather delays still occur consistently.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56B1C-CBE8-91BB-57BF-E452DF562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7"/>
          <a:stretch>
            <a:fillRect/>
          </a:stretch>
        </p:blipFill>
        <p:spPr>
          <a:xfrm>
            <a:off x="4960620" y="0"/>
            <a:ext cx="6968489" cy="66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44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5773B-5E8D-D5B7-58EF-027E8CB7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B42981-F8AA-9947-3579-F4C7ED4D6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86789"/>
            <a:ext cx="10515600" cy="35901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</a:rPr>
              <a:t>Flights are most likely to be delayed during peak travel periods, particularly in the summer and winter months, and later in the day as delays accumulate across the network.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</a:rPr>
              <a:t>Operational factors are the primary drivers of flight delays, while weather plays a secondary, seasonal role.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</a:rPr>
              <a:t>Delta Air Lines demonstrates the strongest overall performance, with lower delay and cancellation rates, indicating higher operational reliability.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</a:rPr>
              <a:t>Frontier Airlines experiences the highest overall disruption, driven by frequent delays and higher cancellation rates.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1AEAB6-79AA-25A9-98DE-E132CC14E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882315"/>
            <a:ext cx="5254754" cy="52946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11430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801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854</Words>
  <Application>Microsoft Office PowerPoint</Application>
  <PresentationFormat>Widescreen</PresentationFormat>
  <Paragraphs>110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Abadi ExtraLight</vt:lpstr>
      <vt:lpstr>Aptos</vt:lpstr>
      <vt:lpstr>Aptos Display</vt:lpstr>
      <vt:lpstr>Arial</vt:lpstr>
      <vt:lpstr>Calibri</vt:lpstr>
      <vt:lpstr>Office Theme</vt:lpstr>
      <vt:lpstr>1_Office Theme</vt:lpstr>
      <vt:lpstr>U.S. Flight Delay &amp; Cancellation Analysis </vt:lpstr>
      <vt:lpstr>Data Overview &amp; Business Questions</vt:lpstr>
      <vt:lpstr>Total Flights by Airline</vt:lpstr>
      <vt:lpstr>Airports – Flight Volume  &amp; Disruptions</vt:lpstr>
      <vt:lpstr>Flight Status &amp; Monthly </vt:lpstr>
      <vt:lpstr>Delays across  months</vt:lpstr>
      <vt:lpstr>Delay Rate By Time Of Day</vt:lpstr>
      <vt:lpstr>Delay Cause Ranking</vt:lpstr>
      <vt:lpstr>Delay Types across airlines</vt:lpstr>
      <vt:lpstr>Cancellation &amp; Delay Relationship</vt:lpstr>
      <vt:lpstr>Airport Level Delays</vt:lpstr>
      <vt:lpstr>Delays Propagation &amp; Severity</vt:lpstr>
      <vt:lpstr>Flights – weather impact at major airports</vt:lpstr>
      <vt:lpstr>Flights delays by month – weather impact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Vegi</dc:creator>
  <cp:lastModifiedBy>Divya Vegi</cp:lastModifiedBy>
  <cp:revision>48</cp:revision>
  <dcterms:created xsi:type="dcterms:W3CDTF">2026-01-03T03:36:44Z</dcterms:created>
  <dcterms:modified xsi:type="dcterms:W3CDTF">2026-01-07T17:12:05Z</dcterms:modified>
</cp:coreProperties>
</file>