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70" r:id="rId3"/>
    <p:sldId id="273" r:id="rId4"/>
    <p:sldId id="261" r:id="rId5"/>
    <p:sldId id="262" r:id="rId6"/>
    <p:sldId id="259" r:id="rId7"/>
    <p:sldId id="260" r:id="rId8"/>
    <p:sldId id="257" r:id="rId9"/>
    <p:sldId id="267" r:id="rId10"/>
    <p:sldId id="256" r:id="rId11"/>
    <p:sldId id="269" r:id="rId12"/>
    <p:sldId id="264" r:id="rId13"/>
    <p:sldId id="258" r:id="rId14"/>
    <p:sldId id="274" r:id="rId15"/>
    <p:sldId id="275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6625"/>
    <a:srgbClr val="C85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6723" autoAdjust="0"/>
  </p:normalViewPr>
  <p:slideViewPr>
    <p:cSldViewPr snapToGrid="0">
      <p:cViewPr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CB9CB0-78E3-49B5-B93F-033A59F17612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1C299-42D4-47D3-B35A-F728DBE4B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12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0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59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38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43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95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57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78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1C299-42D4-47D3-B35A-F728DBE4B9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66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CA03-65C2-76A6-BEB8-B6F05C4B1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3503D-12E7-0A30-DADA-2822151AE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2E796-113E-A663-65C0-9020FE8D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E94FC-9189-B562-687B-2C080DB5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13D7F-7F0B-0DD3-A956-854F340E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54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CBED-F480-AD76-5BD3-D78ADEF5B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BAB59-6995-2D1B-73FB-C6B50477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ADA0-B6A0-A909-5AEF-6EEC576FF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F9D7-BA27-529E-AA9D-7DB33061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EA0BB-F7A2-A9E2-69BA-986D158B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3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4478-C83C-48A8-A40F-A8E7259E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BD620-DF3D-E4F0-65D1-74A40B1A7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1EC5B-D515-DEBC-47D0-98004A96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8FC71-BA57-CD6E-459B-339479D6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3ADEC-BB55-3654-32CF-F0CC4BF9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4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B6F8-5156-AB45-A1DE-61137F81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F126-23FE-204F-3EB7-4A4111108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C51C4-7198-58BA-92BE-17AEF0F6F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9CEF4-0DA9-E582-8481-E6DFC458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F5D52-E093-CAB4-DD6D-0D410E08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8C865-2CF7-95E7-ED8B-B1FBF3EA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14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FDF2-1ADD-F1BB-955A-5355A45B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6C34-93B7-A3D5-E52D-081F77449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710F4-D8D6-7D1D-7117-427EF9374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CB1B0-0960-D988-7306-0FBBED9C5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8AA150-38A7-6966-6261-F7B2DAB8A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35103F-2426-BFEF-ABB9-91B74CD6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8839E-9F3D-97B5-2428-75391132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5DE2A8-5489-E45B-D411-64896A01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9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7AF6-6812-F46E-0ABC-4E9D72F2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0B443-BE2F-541C-4926-D2BD9C7E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0689F-196C-E5A0-633E-4569D3510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B0E21-D955-FBB2-F89A-E6316A21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0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621A7-DF4F-133C-48A2-4E1095B3D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60980-2B9B-3AF8-81D9-84591A5F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6042-93F7-212A-E3E9-B09DA56C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1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B1E5-4724-D343-96C0-87274C00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5CCE-9445-E98B-C90F-EE0132A0F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47FC-78F0-57CA-0BFF-F69029FE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A4B2D-2C2F-590C-2960-7B4AE991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5D03B-EC99-E4FD-E1C2-7CD97A47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69AC9-7177-8876-1E51-C3133BA5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E988D-E126-A782-60C0-DB17E158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9B849-1224-9103-45D6-EB06D53E9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DF80A-3480-D27D-13A2-A610B446F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80551-0B6E-B9E5-3D9D-71A91120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F7361-19A2-CC15-52C1-C4F74A11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1496B-EC13-C0F8-A065-F292C733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3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32FC-0AD2-7D46-6C5C-5771F534B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D5D13-BE02-D1A7-E080-E6E02E760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F72A-FEDB-5A6D-81C4-1568C702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48119-A852-DC54-5BEF-CBC94D6B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88E93-7B0E-45C6-361F-409C35EF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6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02A29-D8E7-E9F5-9745-8EDB7E11D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F5741C-4FD1-9C08-0C0A-29696E69B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EACAD-99D7-594C-1D3D-DDE075D89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343A7-C140-7CA1-B2A3-31C8EE9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18C20-6BBE-25E6-D370-B6003FD9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75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18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93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3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07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44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49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13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0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20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51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84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C8537-A01B-ED88-D239-8B2A7A353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5DD9D-49EB-76EB-1E92-3580BB0C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EEAE-54A5-4E31-52CA-B7C58A195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DBFCA-457A-4BDE-B9DA-D510D527FADD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51733-F9C4-ED8E-F232-EB594B3AB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35871-326B-169B-25DB-32A8176A0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EA142-D8CC-4629-9086-C89A0F16E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7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6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3765" y="643468"/>
            <a:ext cx="5231731" cy="23557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rgbClr val="C85116"/>
                </a:solidFill>
                <a:latin typeface="Abadi ExtraLight" panose="020F0502020204030204" pitchFamily="34" charset="0"/>
              </a:rPr>
              <a:t>U.S. Flight Delay &amp; Cancellation Analysis </a:t>
            </a:r>
          </a:p>
        </p:txBody>
      </p:sp>
      <p:pic>
        <p:nvPicPr>
          <p:cNvPr id="12" name="Picture 11" descr="Airplane taking off against dramatic sky">
            <a:extLst>
              <a:ext uri="{FF2B5EF4-FFF2-40B4-BE49-F238E27FC236}">
                <a16:creationId xmlns:a16="http://schemas.microsoft.com/office/drawing/2014/main" id="{03A3400D-B164-84E9-C549-9D9D96EF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07" r="31974"/>
          <a:stretch>
            <a:fillRect/>
          </a:stretch>
        </p:blipFill>
        <p:spPr>
          <a:xfrm>
            <a:off x="5859261" y="10"/>
            <a:ext cx="633273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14E560-80E2-2139-5237-C8BE5245F78B}"/>
              </a:ext>
            </a:extLst>
          </p:cNvPr>
          <p:cNvSpPr txBox="1"/>
          <p:nvPr/>
        </p:nvSpPr>
        <p:spPr>
          <a:xfrm>
            <a:off x="753035" y="4616824"/>
            <a:ext cx="4792461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Divya Vegi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Capstone Presentation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Nashville Software School</a:t>
            </a:r>
          </a:p>
          <a:p>
            <a:pPr>
              <a:spcAft>
                <a:spcPts val="600"/>
              </a:spcAft>
            </a:pPr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 defTabSz="914400">
              <a:lnSpc>
                <a:spcPct val="90000"/>
              </a:lnSpc>
            </a:pPr>
            <a:r>
              <a:rPr lang="en-US" sz="4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Overview &amp; Business Questions</a:t>
            </a:r>
          </a:p>
        </p:txBody>
      </p:sp>
      <p:sp>
        <p:nvSpPr>
          <p:cNvPr id="8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495A5DF-7818-837D-C21C-755493962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29384"/>
            <a:ext cx="10515600" cy="4814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Dataset:</a:t>
            </a:r>
            <a:r>
              <a:rPr lang="en-US" sz="2400" dirty="0"/>
              <a:t> U.S. domestic flight data from the Bureau of Transportation Statistics (DOT), Hourly Weather Data 2024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Preparation &amp; Cleaning:</a:t>
            </a:r>
            <a:endParaRPr lang="en-US" sz="2400" dirty="0"/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Combined monthly files into a single year dataset for year-level analysis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Processed millions of flight records across airlines and airports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Standardized time fields and aligned delay measurements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Optimized the dataset for large-scale analysis and visualization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Flight is considered delayed if delay is &gt;15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Business Questions:</a:t>
            </a:r>
            <a:endParaRPr lang="en-US" sz="2400" dirty="0"/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When are flights most likely to be delayed or cancelled?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How do delays vary across airlines</a:t>
            </a:r>
          </a:p>
          <a:p>
            <a:pPr marL="742950"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Are delays driven more by airline operations or external factors?</a:t>
            </a: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D2B62E0-F8BD-5BD3-C942-A33115406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418" y="552091"/>
            <a:ext cx="6224335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CA607-7201-3025-642E-28987A0507E4}"/>
              </a:ext>
            </a:extLst>
          </p:cNvPr>
          <p:cNvSpPr txBox="1"/>
          <p:nvPr/>
        </p:nvSpPr>
        <p:spPr>
          <a:xfrm>
            <a:off x="5640705" y="26289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A8AFF-BFE8-7D35-EBCB-EA00109FEC09}"/>
              </a:ext>
            </a:extLst>
          </p:cNvPr>
          <p:cNvSpPr txBox="1"/>
          <p:nvPr/>
        </p:nvSpPr>
        <p:spPr>
          <a:xfrm>
            <a:off x="1805940" y="-1943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55066-B881-E098-C711-70907186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635A8F-7550-1971-9823-4D464833E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685647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 Flights by Airline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F5484A5-072C-39F3-F0D0-236459A1C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18" y="2670048"/>
            <a:ext cx="4544835" cy="37056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small number of major airlines operate most U.S. domestic flights.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Southwest, Delta, American, and United </a:t>
            </a:r>
            <a:r>
              <a:rPr lang="en-US" sz="2000" dirty="0"/>
              <a:t>dominate total flight volume.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Regional carriers support major airlines and are more exposed to upstream disruptions.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Higher volume amplifies delay and cancellation impacts across the network.</a:t>
            </a:r>
          </a:p>
          <a:p>
            <a:pPr marL="28575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4A318A8-2665-3FE0-80A9-92070E72B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43"/>
          <a:stretch>
            <a:fillRect/>
          </a:stretch>
        </p:blipFill>
        <p:spPr>
          <a:xfrm>
            <a:off x="4898264" y="2087445"/>
            <a:ext cx="6790729" cy="37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3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90669-8DB1-A5E7-231D-C8FCAB74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B47B96-10B6-5959-3654-A88BF11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5" y="366602"/>
            <a:ext cx="4551630" cy="103141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800" dirty="0"/>
              <a:t>Airports – Flight Volume  &amp; Disruptions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0BF490-F133-5AB9-28D4-C67191BF0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3" y="2079057"/>
            <a:ext cx="4259179" cy="40979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6DCC5-2443-BDEE-358A-D22509E85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374" y="132348"/>
            <a:ext cx="7487142" cy="3090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C941A0-C6AB-9CE3-60A7-998A56435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374" y="3429001"/>
            <a:ext cx="7487142" cy="329665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DC02124-5591-667A-A725-13CBE54B4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8DE7EC-7E39-7A4B-F978-925A87EB9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53" y="1788138"/>
            <a:ext cx="44863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ATL is the busiest U.S. airport</a:t>
            </a:r>
            <a:r>
              <a:rPr lang="en-US" dirty="0"/>
              <a:t> by total flight volume.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DFW, DEN, and ORD</a:t>
            </a:r>
            <a:r>
              <a:rPr lang="en-US" dirty="0"/>
              <a:t> also serve as major connection hubs with heavy traffic.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High-volume hubs act as network bottlenecks</a:t>
            </a:r>
            <a:r>
              <a:rPr lang="en-US" dirty="0"/>
              <a:t>, increasing disruption risk.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Disruption rates vary widely</a:t>
            </a:r>
            <a:r>
              <a:rPr lang="en-US" dirty="0"/>
              <a:t>, showing that volume alone does not determine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7139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A1E68-D1A9-2AA3-EA12-CC7A0739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13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284E44-C604-15F4-74FC-C0840060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Flight Status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8F65C3-8C3A-AB43-C6D8-A22E52E09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3" b="717"/>
          <a:stretch>
            <a:fillRect/>
          </a:stretch>
        </p:blipFill>
        <p:spPr>
          <a:xfrm>
            <a:off x="6455364" y="1292924"/>
            <a:ext cx="4747547" cy="47332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50A1A5-9147-8258-2319-81BD995C7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19" y="2390368"/>
            <a:ext cx="47378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Most flights operate successfully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— nearly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79% arrive on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  <a:endParaRPr lang="en-US" altLang="en-US" sz="2000" dirty="0">
              <a:latin typeface="Aptos" panose="020B00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Delays are the primary disruption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, affecting about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1 in 5 flights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Cancellations and Diversions are  rare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and typically occur during major disruption events.</a:t>
            </a:r>
          </a:p>
        </p:txBody>
      </p:sp>
    </p:spTree>
    <p:extLst>
      <p:ext uri="{BB962C8B-B14F-4D97-AF65-F5344CB8AC3E}">
        <p14:creationId xmlns:p14="http://schemas.microsoft.com/office/powerpoint/2010/main" val="266201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88657-7CD5-118D-FB13-1B4AB759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318862-ADD8-BF3C-13B4-057355EE1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68" y="64008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Delays across  months</a:t>
            </a:r>
          </a:p>
        </p:txBody>
      </p:sp>
      <p:sp>
        <p:nvSpPr>
          <p:cNvPr id="7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0BA911-B29C-8546-D340-90685FDC4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31" y="2807208"/>
            <a:ext cx="4306520" cy="39959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Delay rates fluctuate throughout the year</a:t>
            </a:r>
          </a:p>
          <a:p>
            <a:pPr marL="1143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Delay Peaks align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busy travel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and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adverse weather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periods</a:t>
            </a:r>
          </a:p>
          <a:p>
            <a:pPr marL="11430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Lower rates seen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off-peak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seasons</a:t>
            </a:r>
          </a:p>
          <a:p>
            <a:pPr marL="114300"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Highlights seasonal operational stress.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4419C-5F6F-C548-2B2D-27CEF0AB54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435" y="1499616"/>
            <a:ext cx="7308781" cy="433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2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0ECC9E-CEFB-F007-2002-EADB49293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38" y="597439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 Rate By Time Of Day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669709-A875-0210-67C8-245B31AD2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" y="2198362"/>
            <a:ext cx="4527329" cy="44898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Delay rates increase steadily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morning to evening.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Early flights experience fewer disruptions.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Evening delays reflect accumulated network congestion.</a:t>
            </a:r>
          </a:p>
          <a:p>
            <a:pPr marL="457200" marR="0" lvl="0" indent="-4572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2430D-B903-1A05-04A8-458555DF3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694" y="2026183"/>
            <a:ext cx="6755911" cy="376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01C5E2-7143-DADE-DF7A-6374A6AE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85038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 Cause Ranking</a:t>
            </a:r>
          </a:p>
        </p:txBody>
      </p:sp>
      <p:sp>
        <p:nvSpPr>
          <p:cNvPr id="6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AA806-E988-4939-77F5-934350157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9" b="5203"/>
          <a:stretch>
            <a:fillRect/>
          </a:stretch>
        </p:blipFill>
        <p:spPr>
          <a:xfrm>
            <a:off x="4654296" y="486562"/>
            <a:ext cx="6894576" cy="314632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DA68DDE-9CE0-EA6C-6F5A-34075FCFA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910" y="4119448"/>
            <a:ext cx="6894576" cy="23601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100" dirty="0"/>
              <a:t>Top 2 : </a:t>
            </a:r>
            <a:r>
              <a:rPr lang="en-US" sz="2100" dirty="0"/>
              <a:t>Carrier &amp; Late aircraft delays- the leading causes of flight disruptions are </a:t>
            </a:r>
            <a:r>
              <a:rPr lang="en-US" altLang="en-US" sz="2100" dirty="0"/>
              <a:t>under airline control.</a:t>
            </a: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NAS delays reflect congestion at busy airports.</a:t>
            </a:r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dirty="0"/>
              <a:t>External factors like weather and Security delays are minimal compared to other causes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100" dirty="0"/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57DA5-FBC7-1616-BA56-92C3382C8D7B}"/>
              </a:ext>
            </a:extLst>
          </p:cNvPr>
          <p:cNvSpPr txBox="1"/>
          <p:nvPr/>
        </p:nvSpPr>
        <p:spPr>
          <a:xfrm>
            <a:off x="4930346" y="8649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F0F4C2-D2A5-904D-8608-1ABA0348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Delay Types across airlines</a:t>
            </a:r>
          </a:p>
        </p:txBody>
      </p:sp>
      <p:sp>
        <p:nvSpPr>
          <p:cNvPr id="3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3707E5-E48C-D0E0-1F06-5CDE5E699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76" y="2660904"/>
            <a:ext cx="5070348" cy="37749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144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Carrier-delays are consistently significant, especially for large network airlines.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marL="9144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JetBlue  </a:t>
            </a:r>
            <a:r>
              <a:rPr lang="en-US" sz="2000" dirty="0"/>
              <a:t>and</a:t>
            </a:r>
            <a:r>
              <a:rPr lang="en-US" sz="2000" b="1" dirty="0"/>
              <a:t> American </a:t>
            </a:r>
            <a:r>
              <a:rPr lang="en-US" sz="2000" dirty="0"/>
              <a:t>show higher carrier delay rates.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Frontier </a:t>
            </a:r>
            <a:r>
              <a:rPr lang="en-US" sz="2000" dirty="0"/>
              <a:t>is driven mainly by late-aircraft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Delta </a:t>
            </a:r>
            <a:r>
              <a:rPr lang="en-US" sz="2000" dirty="0"/>
              <a:t>and</a:t>
            </a:r>
            <a:r>
              <a:rPr lang="en-US" sz="2000" b="1" dirty="0"/>
              <a:t> Alaska </a:t>
            </a:r>
            <a:r>
              <a:rPr lang="en-US" sz="2000" dirty="0"/>
              <a:t>show </a:t>
            </a:r>
            <a:r>
              <a:rPr lang="en-US" sz="2000" b="1" dirty="0"/>
              <a:t>lower delay </a:t>
            </a:r>
            <a:r>
              <a:rPr lang="en-US" sz="2000" dirty="0"/>
              <a:t>rates, indicating strong reliability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301716-56DE-FBCA-752F-A0FD4607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520" y="4315522"/>
            <a:ext cx="4646905" cy="36131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C4F95-4BAA-72F7-A0FC-27BA6968D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23" y="403882"/>
            <a:ext cx="6362701" cy="630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8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73A862-9E3A-4ABA-4059-D8FBBF43F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dirty="0"/>
              <a:t>Cancellation &amp; Delay Relationship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18904-0141-7A9F-FF03-8D154B597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954"/>
            <a:ext cx="6224015" cy="38024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754111-4EFA-1702-0454-658A123D4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" b="4856"/>
          <a:stretch>
            <a:fillRect/>
          </a:stretch>
        </p:blipFill>
        <p:spPr>
          <a:xfrm>
            <a:off x="6400800" y="382327"/>
            <a:ext cx="5324856" cy="3541087"/>
          </a:xfrm>
          <a:prstGeom prst="rect">
            <a:avLst/>
          </a:prstGeom>
        </p:spPr>
      </p:pic>
      <p:sp>
        <p:nvSpPr>
          <p:cNvPr id="50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F444D9-DB20-EBAB-9024-A5023A02E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999" y="4440365"/>
            <a:ext cx="6214871" cy="172269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285750" marR="0" lvl="0" indent="-2857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Airlines manage disruptions through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delays or cancellations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285750" marR="0" lvl="0" indent="-2857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Frontier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high delays and cancellations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indicating reliability challenges.</a:t>
            </a:r>
          </a:p>
          <a:p>
            <a:pPr marL="285750" marR="0" lvl="0" indent="-2857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American and JetBlue</a:t>
            </a:r>
            <a:r>
              <a:rPr lang="en-US" altLang="en-US" sz="2000" dirty="0"/>
              <a:t> favor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delays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n-US" altLang="en-US" sz="2000" dirty="0"/>
              <a:t>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ver cancellations.</a:t>
            </a:r>
          </a:p>
          <a:p>
            <a:pPr marL="285750" marR="0" lvl="0" indent="-2857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Delta and Southwest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maintain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lower disruption overall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reflecting stronger operational resilience.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695969-D071-5ACB-683A-CB8188BAF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263" y="457200"/>
            <a:ext cx="6007608" cy="255444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171450" indent="-17145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6351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36494-8662-BDF2-9705-A9315CCC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626D50-0F36-E2E4-E902-5BB66ECE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Airport Level Delays</a:t>
            </a:r>
          </a:p>
        </p:txBody>
      </p:sp>
      <p:sp>
        <p:nvSpPr>
          <p:cNvPr id="7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D72EB-5452-2084-8CB4-C2185B7B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807208"/>
            <a:ext cx="4219396" cy="36075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Longer taxi-out times </a:t>
            </a:r>
            <a:r>
              <a:rPr lang="en-US" altLang="en-US" sz="2200" dirty="0"/>
              <a:t>are linked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with higher delay rates.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Ground congestion </a:t>
            </a:r>
            <a:r>
              <a:rPr lang="en-US" altLang="en-US" sz="2200" dirty="0"/>
              <a:t>drives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 departure delays.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Indicates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airport-level operational bottlenecks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C10EDF7-4C66-FAED-86E3-661DB357A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" t="-3" r="-194" b="4"/>
          <a:stretch>
            <a:fillRect/>
          </a:stretch>
        </p:blipFill>
        <p:spPr>
          <a:xfrm>
            <a:off x="4850332" y="640080"/>
            <a:ext cx="651164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36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DF703-BA4A-7B92-7F43-74D2CFB0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6E7C78-C9FA-14FD-3E3A-4109A003C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92592"/>
            <a:ext cx="4475746" cy="141094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Delays Propagation &amp; Severity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B83356-9DAB-29DC-25EF-4293AC382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19" y="3429000"/>
            <a:ext cx="7472381" cy="31860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4C0CCC-63F0-F7E5-38CE-3544648D4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618" y="208343"/>
            <a:ext cx="7063410" cy="30777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58EDDF-1BA3-8888-9FB6-4DF22A03D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72" y="1836969"/>
            <a:ext cx="431749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Departure delays strongly carry through to arrival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limited recovery once a flight leaves late.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delays are short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they occur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high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affecting many passengers.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small number of flights experience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delays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(200+ minutes), creating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outsized disruption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delay metrics hide these extremes, making delay distribution more informative than the mean.</a:t>
            </a:r>
          </a:p>
        </p:txBody>
      </p:sp>
    </p:spTree>
    <p:extLst>
      <p:ext uri="{BB962C8B-B14F-4D97-AF65-F5344CB8AC3E}">
        <p14:creationId xmlns:p14="http://schemas.microsoft.com/office/powerpoint/2010/main" val="2942002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799071-25E4-E8D3-8AA0-FE3C1FCD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337109"/>
            <a:ext cx="4245864" cy="18259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800" dirty="0"/>
              <a:t>Flights – weather impact</a:t>
            </a:r>
            <a:br>
              <a:rPr lang="en-US" sz="3800" dirty="0"/>
            </a:br>
            <a:r>
              <a:rPr lang="en-US" sz="3800" dirty="0"/>
              <a:t>at major airports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6DE3ABD-4E68-A36B-94D1-3F6B70536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558824"/>
              </p:ext>
            </p:extLst>
          </p:nvPr>
        </p:nvGraphicFramePr>
        <p:xfrm>
          <a:off x="6292904" y="1000973"/>
          <a:ext cx="5471162" cy="1810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476">
                  <a:extLst>
                    <a:ext uri="{9D8B030D-6E8A-4147-A177-3AD203B41FA5}">
                      <a16:colId xmlns:a16="http://schemas.microsoft.com/office/drawing/2014/main" val="167708244"/>
                    </a:ext>
                  </a:extLst>
                </a:gridCol>
                <a:gridCol w="880945">
                  <a:extLst>
                    <a:ext uri="{9D8B030D-6E8A-4147-A177-3AD203B41FA5}">
                      <a16:colId xmlns:a16="http://schemas.microsoft.com/office/drawing/2014/main" val="672478154"/>
                    </a:ext>
                  </a:extLst>
                </a:gridCol>
                <a:gridCol w="986465">
                  <a:extLst>
                    <a:ext uri="{9D8B030D-6E8A-4147-A177-3AD203B41FA5}">
                      <a16:colId xmlns:a16="http://schemas.microsoft.com/office/drawing/2014/main" val="426568965"/>
                    </a:ext>
                  </a:extLst>
                </a:gridCol>
                <a:gridCol w="1313651">
                  <a:extLst>
                    <a:ext uri="{9D8B030D-6E8A-4147-A177-3AD203B41FA5}">
                      <a16:colId xmlns:a16="http://schemas.microsoft.com/office/drawing/2014/main" val="1941335778"/>
                    </a:ext>
                  </a:extLst>
                </a:gridCol>
                <a:gridCol w="1148625">
                  <a:extLst>
                    <a:ext uri="{9D8B030D-6E8A-4147-A177-3AD203B41FA5}">
                      <a16:colId xmlns:a16="http://schemas.microsoft.com/office/drawing/2014/main" val="2709967725"/>
                    </a:ext>
                  </a:extLst>
                </a:gridCol>
              </a:tblGrid>
              <a:tr h="6348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weather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On Time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Delayed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>
                          <a:solidFill>
                            <a:schemeClr val="tx1"/>
                          </a:solidFill>
                          <a:effectLst/>
                        </a:rPr>
                        <a:t>Cancelled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cap="all" spc="60" dirty="0">
                          <a:solidFill>
                            <a:schemeClr val="tx1"/>
                          </a:solidFill>
                          <a:effectLst/>
                        </a:rPr>
                        <a:t>Diverted</a:t>
                      </a:r>
                    </a:p>
                  </a:txBody>
                  <a:tcPr marL="128684" marR="128684" marT="128684" marB="1286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58320"/>
                  </a:ext>
                </a:extLst>
              </a:tr>
              <a:tr h="3917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Clear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79.61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18.96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1.19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0.24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12778704"/>
                  </a:ext>
                </a:extLst>
              </a:tr>
              <a:tr h="3917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Rain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56.99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39.53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3.16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  <a:effectLst/>
                        </a:rPr>
                        <a:t>0.32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95469583"/>
                  </a:ext>
                </a:extLst>
              </a:tr>
              <a:tr h="3917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Snow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10.77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71.67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17.15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  <a:effectLst/>
                        </a:rPr>
                        <a:t>0.41</a:t>
                      </a:r>
                    </a:p>
                  </a:txBody>
                  <a:tcPr marL="85789" marR="85789" marT="42895" marB="8578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97439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7D59A23-682C-CEE7-349C-37C6C0196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8"/>
          <a:stretch>
            <a:fillRect/>
          </a:stretch>
        </p:blipFill>
        <p:spPr>
          <a:xfrm>
            <a:off x="228013" y="409575"/>
            <a:ext cx="5640006" cy="349130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1010439-F941-5708-F1C9-2D0A2255E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736" y="4462915"/>
            <a:ext cx="625633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impacts were analyzed across major U.S. hub airports.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 and severe conditions drive the highest disruption levels.</a:t>
            </a:r>
          </a:p>
        </p:txBody>
      </p:sp>
    </p:spTree>
    <p:extLst>
      <p:ext uri="{BB962C8B-B14F-4D97-AF65-F5344CB8AC3E}">
        <p14:creationId xmlns:p14="http://schemas.microsoft.com/office/powerpoint/2010/main" val="1531409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B91A7-6534-2966-99D8-C83E42A6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Flights delays by month – weather impact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605DD4-1372-B9E9-4398-F42C64C76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1" y="2807208"/>
            <a:ext cx="482346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100" i="0" u="none" strike="noStrike" cap="none" normalizeH="0" baseline="0" dirty="0">
                <a:ln>
                  <a:noFill/>
                </a:ln>
                <a:effectLst/>
              </a:rPr>
              <a:t>Weather-related delays vary seasonally.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Snow causes the most severe disruptions.</a:t>
            </a:r>
          </a:p>
          <a:p>
            <a:endParaRPr lang="en-US" sz="2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Rain worsens delays during busy months.</a:t>
            </a:r>
          </a:p>
          <a:p>
            <a:endParaRPr lang="en-US" sz="21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Many delays occur even in clear conditions.</a:t>
            </a:r>
          </a:p>
          <a:p>
            <a:pPr marL="342900" marR="0" lvl="0" indent="-3429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10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56B1C-CBE8-91BB-57BF-E452DF562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7"/>
          <a:stretch>
            <a:fillRect/>
          </a:stretch>
        </p:blipFill>
        <p:spPr>
          <a:xfrm>
            <a:off x="4960620" y="0"/>
            <a:ext cx="6968489" cy="66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44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FDF94-B7C4-CFED-2423-E9CFB797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474" y="134875"/>
            <a:ext cx="10985326" cy="829629"/>
          </a:xfrm>
        </p:spPr>
        <p:txBody>
          <a:bodyPr/>
          <a:lstStyle/>
          <a:p>
            <a:r>
              <a:rPr lang="en-US" b="1" dirty="0">
                <a:latin typeface="+mn-lt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AB0B7-65F0-1C0D-C5A5-CA64649230CA}"/>
              </a:ext>
            </a:extLst>
          </p:cNvPr>
          <p:cNvSpPr txBox="1"/>
          <p:nvPr/>
        </p:nvSpPr>
        <p:spPr>
          <a:xfrm>
            <a:off x="368474" y="1402916"/>
            <a:ext cx="108600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Airline Performance</a:t>
            </a:r>
            <a:endParaRPr lang="en-US" dirty="0"/>
          </a:p>
          <a:p>
            <a:pPr lvl="0"/>
            <a:r>
              <a:rPr lang="en-US" b="1" dirty="0"/>
              <a:t>Delta Air Lines</a:t>
            </a:r>
            <a:r>
              <a:rPr lang="en-US" dirty="0"/>
              <a:t> demonstrates the </a:t>
            </a:r>
            <a:r>
              <a:rPr lang="en-US" b="1" dirty="0"/>
              <a:t>strongest</a:t>
            </a:r>
            <a:r>
              <a:rPr lang="en-US" dirty="0"/>
              <a:t> overall reliability consistently lower delay and cancellation rates.</a:t>
            </a:r>
          </a:p>
          <a:p>
            <a:pPr lvl="0"/>
            <a:r>
              <a:rPr lang="en-US" b="1" dirty="0"/>
              <a:t>Southwest and United</a:t>
            </a:r>
            <a:r>
              <a:rPr lang="en-US" dirty="0"/>
              <a:t> also show strong operational stability across the network.</a:t>
            </a:r>
          </a:p>
          <a:p>
            <a:pPr lvl="0"/>
            <a:r>
              <a:rPr lang="en-US" b="1" dirty="0"/>
              <a:t>Frontier </a:t>
            </a:r>
            <a:r>
              <a:rPr lang="en-US" dirty="0"/>
              <a:t>Airlines show the </a:t>
            </a:r>
            <a:r>
              <a:rPr lang="en-US" b="1" dirty="0"/>
              <a:t>highest</a:t>
            </a:r>
            <a:r>
              <a:rPr lang="en-US" dirty="0"/>
              <a:t> </a:t>
            </a:r>
            <a:r>
              <a:rPr lang="en-US" b="1" dirty="0"/>
              <a:t>disruption</a:t>
            </a:r>
            <a:r>
              <a:rPr lang="en-US" dirty="0"/>
              <a:t>, driven by frequent delays and elevated cancellations.</a:t>
            </a:r>
          </a:p>
          <a:p>
            <a:pPr lvl="0"/>
            <a:endParaRPr lang="en-US" dirty="0"/>
          </a:p>
          <a:p>
            <a:r>
              <a:rPr lang="en-US" b="1" dirty="0"/>
              <a:t>Best Travel Times</a:t>
            </a:r>
            <a:endParaRPr lang="en-US" dirty="0"/>
          </a:p>
          <a:p>
            <a:pPr lvl="0"/>
            <a:r>
              <a:rPr lang="en-US" dirty="0"/>
              <a:t>Worst: Peak travel seasons — Summer and Winter</a:t>
            </a:r>
          </a:p>
          <a:p>
            <a:pPr lvl="0"/>
            <a:r>
              <a:rPr lang="en-US" dirty="0"/>
              <a:t>Best: Shoulder months with lower demand and fewer disruptions</a:t>
            </a:r>
          </a:p>
          <a:p>
            <a:r>
              <a:rPr lang="en-US" b="1" dirty="0"/>
              <a:t>Time of Day</a:t>
            </a:r>
          </a:p>
          <a:p>
            <a:pPr lvl="0"/>
            <a:r>
              <a:rPr lang="en-US" dirty="0"/>
              <a:t>Worst: Evening and Night, when delays accumulate across the network</a:t>
            </a:r>
          </a:p>
          <a:p>
            <a:pPr lvl="0"/>
            <a:r>
              <a:rPr lang="en-US" dirty="0"/>
              <a:t>Best: Morning, when schedules have greater recovery capacity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What Drives Delays</a:t>
            </a:r>
          </a:p>
          <a:p>
            <a:pPr lvl="0"/>
            <a:r>
              <a:rPr lang="en-US" b="1" dirty="0"/>
              <a:t>Operational factors</a:t>
            </a:r>
            <a:r>
              <a:rPr lang="en-US" dirty="0"/>
              <a:t> are the primary drivers of delays throughout the year.</a:t>
            </a:r>
          </a:p>
          <a:p>
            <a:pPr lvl="0"/>
            <a:r>
              <a:rPr lang="en-US" b="1" dirty="0"/>
              <a:t>Weather impacts</a:t>
            </a:r>
            <a:r>
              <a:rPr lang="en-US" dirty="0"/>
              <a:t> are secondary and seasonal, intensifying disruption during specific periods rather than driving daily delays.</a:t>
            </a:r>
          </a:p>
          <a:p>
            <a:r>
              <a:rPr lang="en-US" dirty="0"/>
              <a:t> </a:t>
            </a:r>
          </a:p>
        </p:txBody>
      </p:sp>
      <p:sp>
        <p:nvSpPr>
          <p:cNvPr id="4" name="Minus Sign 3">
            <a:extLst>
              <a:ext uri="{FF2B5EF4-FFF2-40B4-BE49-F238E27FC236}">
                <a16:creationId xmlns:a16="http://schemas.microsoft.com/office/drawing/2014/main" id="{C884D3B4-E4D6-23E0-AB2B-F499DD851E8E}"/>
              </a:ext>
            </a:extLst>
          </p:cNvPr>
          <p:cNvSpPr/>
          <p:nvPr/>
        </p:nvSpPr>
        <p:spPr>
          <a:xfrm>
            <a:off x="-551146" y="1008345"/>
            <a:ext cx="6175332" cy="350729"/>
          </a:xfrm>
          <a:prstGeom prst="mathMinus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15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3549</TotalTime>
  <Words>785</Words>
  <Application>Microsoft Office PowerPoint</Application>
  <PresentationFormat>Widescreen</PresentationFormat>
  <Paragraphs>143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Abadi ExtraLight</vt:lpstr>
      <vt:lpstr>Aptos</vt:lpstr>
      <vt:lpstr>Aptos Display</vt:lpstr>
      <vt:lpstr>Arial</vt:lpstr>
      <vt:lpstr>Calibri</vt:lpstr>
      <vt:lpstr>Wingdings</vt:lpstr>
      <vt:lpstr>Office Theme</vt:lpstr>
      <vt:lpstr>1_Office Theme</vt:lpstr>
      <vt:lpstr>U.S. Flight Delay &amp; Cancellation Analysis </vt:lpstr>
      <vt:lpstr>Data Overview &amp; Business Questions</vt:lpstr>
      <vt:lpstr>Total Flights by Airline</vt:lpstr>
      <vt:lpstr>Airports – Flight Volume  &amp; Disruptions</vt:lpstr>
      <vt:lpstr>Flight Status</vt:lpstr>
      <vt:lpstr>Delays across  months</vt:lpstr>
      <vt:lpstr>Delay Rate By Time Of Day</vt:lpstr>
      <vt:lpstr>Delay Cause Ranking</vt:lpstr>
      <vt:lpstr>Delay Types across airlines</vt:lpstr>
      <vt:lpstr>Cancellation &amp; Delay Relationship</vt:lpstr>
      <vt:lpstr>Airport Level Delays</vt:lpstr>
      <vt:lpstr>Delays Propagation &amp; Severity</vt:lpstr>
      <vt:lpstr>Flights – weather impact at major airports</vt:lpstr>
      <vt:lpstr>Flights delays by month – weather impact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Vegi</dc:creator>
  <cp:lastModifiedBy>Divya Vegi</cp:lastModifiedBy>
  <cp:revision>57</cp:revision>
  <dcterms:created xsi:type="dcterms:W3CDTF">2026-01-03T03:36:44Z</dcterms:created>
  <dcterms:modified xsi:type="dcterms:W3CDTF">2026-01-09T14:39:43Z</dcterms:modified>
</cp:coreProperties>
</file>